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Noto Sans Bold" panose="020B0604020202020204" charset="0"/>
      <p:regular r:id="rId13"/>
    </p:embeddedFont>
    <p:embeddedFont>
      <p:font typeface="Noto Sans Medium" panose="020B0604020202020204" charset="0"/>
      <p:regular r:id="rId14"/>
    </p:embeddedFont>
    <p:embeddedFont>
      <p:font typeface="Noto Serif Devanagari" panose="020B0604020202020204" charset="0"/>
      <p:regular r:id="rId15"/>
    </p:embeddedFont>
    <p:embeddedFont>
      <p:font typeface="Noto Serif Devanagari Black" panose="020B0604020202020204" charset="0"/>
      <p:regular r:id="rId16"/>
    </p:embeddedFont>
    <p:embeddedFont>
      <p:font typeface="Noto Serif Devanagari Bold" panose="020B0604020202020204" charset="0"/>
      <p:regular r:id="rId17"/>
    </p:embeddedFont>
    <p:embeddedFont>
      <p:font typeface="Noto Serif Devanagari ExtraBold" panose="020B0604020202020204" charset="0"/>
      <p:regular r:id="rId18"/>
    </p:embeddedFont>
    <p:embeddedFont>
      <p:font typeface="Noto Serif Devanagari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B1B3F-178A-49A8-A61E-30EF526C4BC9}" v="4" dt="2026-10-15T03:49:38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sradhanalakoti58@outlook.com" userId="70ac696efc331d56" providerId="LiveId" clId="{8912D241-23FB-4AB0-BA64-29E9FA8E1D04}"/>
    <pc:docChg chg="custSel modSld">
      <pc:chgData name="sahasradhanalakoti58@outlook.com" userId="70ac696efc331d56" providerId="LiveId" clId="{8912D241-23FB-4AB0-BA64-29E9FA8E1D04}" dt="2026-10-15T03:49:54.452" v="141" actId="1076"/>
      <pc:docMkLst>
        <pc:docMk/>
      </pc:docMkLst>
      <pc:sldChg chg="addSp delSp modSp mod">
        <pc:chgData name="sahasradhanalakoti58@outlook.com" userId="70ac696efc331d56" providerId="LiveId" clId="{8912D241-23FB-4AB0-BA64-29E9FA8E1D04}" dt="2026-10-15T03:49:54.452" v="141" actId="1076"/>
        <pc:sldMkLst>
          <pc:docMk/>
          <pc:sldMk cId="0" sldId="260"/>
        </pc:sldMkLst>
        <pc:spChg chg="mod">
          <ac:chgData name="sahasradhanalakoti58@outlook.com" userId="70ac696efc331d56" providerId="LiveId" clId="{8912D241-23FB-4AB0-BA64-29E9FA8E1D04}" dt="2026-10-15T03:43:30.550" v="4" actId="20577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sahasradhanalakoti58@outlook.com" userId="70ac696efc331d56" providerId="LiveId" clId="{8912D241-23FB-4AB0-BA64-29E9FA8E1D04}" dt="2026-10-15T03:44:07.030" v="32" actId="1076"/>
          <ac:spMkLst>
            <pc:docMk/>
            <pc:sldMk cId="0" sldId="260"/>
            <ac:spMk id="19" creationId="{E88555C5-703A-B998-C394-FAC0DB7EC93F}"/>
          </ac:spMkLst>
        </pc:spChg>
        <pc:spChg chg="add mod">
          <ac:chgData name="sahasradhanalakoti58@outlook.com" userId="70ac696efc331d56" providerId="LiveId" clId="{8912D241-23FB-4AB0-BA64-29E9FA8E1D04}" dt="2026-10-15T03:45:03.321" v="70" actId="1076"/>
          <ac:spMkLst>
            <pc:docMk/>
            <pc:sldMk cId="0" sldId="260"/>
            <ac:spMk id="22" creationId="{75289D77-1A8F-3EE8-028A-84BCC7AF2FD3}"/>
          </ac:spMkLst>
        </pc:spChg>
        <pc:spChg chg="add mod">
          <ac:chgData name="sahasradhanalakoti58@outlook.com" userId="70ac696efc331d56" providerId="LiveId" clId="{8912D241-23FB-4AB0-BA64-29E9FA8E1D04}" dt="2026-10-15T03:49:31.515" v="109" actId="1076"/>
          <ac:spMkLst>
            <pc:docMk/>
            <pc:sldMk cId="0" sldId="260"/>
            <ac:spMk id="27" creationId="{8D18018E-5BCC-551C-8438-9E318F70E6A6}"/>
          </ac:spMkLst>
        </pc:spChg>
        <pc:spChg chg="add mod">
          <ac:chgData name="sahasradhanalakoti58@outlook.com" userId="70ac696efc331d56" providerId="LiveId" clId="{8912D241-23FB-4AB0-BA64-29E9FA8E1D04}" dt="2026-10-15T03:49:54.452" v="141" actId="1076"/>
          <ac:spMkLst>
            <pc:docMk/>
            <pc:sldMk cId="0" sldId="260"/>
            <ac:spMk id="28" creationId="{9AF16D6D-A553-558C-D27C-D2CF2745F7F1}"/>
          </ac:spMkLst>
        </pc:spChg>
        <pc:graphicFrameChg chg="del">
          <ac:chgData name="sahasradhanalakoti58@outlook.com" userId="70ac696efc331d56" providerId="LiveId" clId="{8912D241-23FB-4AB0-BA64-29E9FA8E1D04}" dt="2026-10-15T03:41:17.445" v="0" actId="478"/>
          <ac:graphicFrameMkLst>
            <pc:docMk/>
            <pc:sldMk cId="0" sldId="260"/>
            <ac:graphicFrameMk id="13" creationId="{00000000-0000-0000-0000-000000000000}"/>
          </ac:graphicFrameMkLst>
        </pc:graphicFrameChg>
        <pc:picChg chg="add mod">
          <ac:chgData name="sahasradhanalakoti58@outlook.com" userId="70ac696efc331d56" providerId="LiveId" clId="{8912D241-23FB-4AB0-BA64-29E9FA8E1D04}" dt="2026-10-15T03:43:40.103" v="7" actId="1076"/>
          <ac:picMkLst>
            <pc:docMk/>
            <pc:sldMk cId="0" sldId="260"/>
            <ac:picMk id="18" creationId="{F2793EA0-16C2-B67C-68F3-15ACA556C90D}"/>
          </ac:picMkLst>
        </pc:picChg>
        <pc:picChg chg="add mod">
          <ac:chgData name="sahasradhanalakoti58@outlook.com" userId="70ac696efc331d56" providerId="LiveId" clId="{8912D241-23FB-4AB0-BA64-29E9FA8E1D04}" dt="2026-10-15T03:44:28.528" v="37" actId="14100"/>
          <ac:picMkLst>
            <pc:docMk/>
            <pc:sldMk cId="0" sldId="260"/>
            <ac:picMk id="21" creationId="{E3AE1393-0C3D-3D75-8AED-43B56474F3AA}"/>
          </ac:picMkLst>
        </pc:picChg>
        <pc:picChg chg="add mod">
          <ac:chgData name="sahasradhanalakoti58@outlook.com" userId="70ac696efc331d56" providerId="LiveId" clId="{8912D241-23FB-4AB0-BA64-29E9FA8E1D04}" dt="2026-10-15T03:49:04.921" v="83" actId="1076"/>
          <ac:picMkLst>
            <pc:docMk/>
            <pc:sldMk cId="0" sldId="260"/>
            <ac:picMk id="24" creationId="{DC894AB6-F09C-D163-A2A8-F85B893F71E4}"/>
          </ac:picMkLst>
        </pc:picChg>
        <pc:picChg chg="add mod">
          <ac:chgData name="sahasradhanalakoti58@outlook.com" userId="70ac696efc331d56" providerId="LiveId" clId="{8912D241-23FB-4AB0-BA64-29E9FA8E1D04}" dt="2026-10-15T03:49:08.300" v="84" actId="14100"/>
          <ac:picMkLst>
            <pc:docMk/>
            <pc:sldMk cId="0" sldId="260"/>
            <ac:picMk id="26" creationId="{70B77D6F-BCB5-9CDD-E865-82AD76EE65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420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6442" y="1217862"/>
            <a:ext cx="6349841" cy="5062438"/>
          </a:xfrm>
          <a:prstGeom prst="rect">
            <a:avLst/>
          </a:prstGeom>
          <a:solidFill>
            <a:srgbClr val="E6EEFB"/>
          </a:solidFill>
          <a:ln w="12700">
            <a:solidFill>
              <a:srgbClr val="1B4A9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93690" y="1370931"/>
            <a:ext cx="61720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DIGITAL LOGIC DESIGN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8482" y="1874917"/>
            <a:ext cx="5562461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Design and Simulation of an Adder and Subtractor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03142" y="3951277"/>
            <a:ext cx="556246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 gate-level arithmetic unit verified with truth tables and Logisim.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86181" y="4545696"/>
            <a:ext cx="3726761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7" name="Text 5"/>
          <p:cNvSpPr/>
          <p:nvPr/>
        </p:nvSpPr>
        <p:spPr>
          <a:xfrm>
            <a:off x="586181" y="4876044"/>
            <a:ext cx="556246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480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Team members: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480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Sahasra-2620030411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480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Rithvik-2620030483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480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Rithwik-2620030484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480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Bavesh-2620030486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4800" kern="10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Sravani-2620030488</a:t>
            </a:r>
          </a:p>
          <a:p>
            <a:pPr marL="0" indent="0" algn="l">
              <a:lnSpc>
                <a:spcPct val="113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223000"/>
          </a:xfrm>
          <a:prstGeom prst="rect">
            <a:avLst/>
          </a:prstGeom>
          <a:solidFill>
            <a:srgbClr val="F4B3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84200"/>
            <a:ext cx="3555911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0" kern="100" spc="-330" dirty="0">
                <a:solidFill>
                  <a:srgbClr val="000000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07987" y="2219126"/>
            <a:ext cx="396230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PROJECT START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87" y="2480270"/>
            <a:ext cx="355591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16" dirty="0">
                <a:solidFill>
                  <a:srgbClr val="000000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Introduction and objective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7987" y="5404763"/>
            <a:ext cx="355591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10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Adder-subtractors turn Boolean logic into arithmetic.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79873" y="609600"/>
            <a:ext cx="65022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Adder-subtractor circuits are fundamental arithmetic units used inside processors, calculators, and digital systems.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79873" y="1314450"/>
            <a:ext cx="1964184" cy="292417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9" name="Text 7"/>
          <p:cNvSpPr/>
          <p:nvPr/>
        </p:nvSpPr>
        <p:spPr>
          <a:xfrm>
            <a:off x="5308467" y="1543050"/>
            <a:ext cx="8240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 SemiBold" pitchFamily="34" charset="0"/>
                <a:ea typeface="Noto Serif Devanagari SemiBold" pitchFamily="34" charset="-122"/>
                <a:cs typeface="Noto Serif Devanagar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08467" y="1809750"/>
            <a:ext cx="1506996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1" name="Text 9"/>
          <p:cNvSpPr/>
          <p:nvPr/>
        </p:nvSpPr>
        <p:spPr>
          <a:xfrm>
            <a:off x="5308467" y="1943100"/>
            <a:ext cx="150699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Design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08467" y="2352675"/>
            <a:ext cx="1506996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Implement binary addition and subtraction using logic gates.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48850" y="1314450"/>
            <a:ext cx="1964184" cy="292417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7577444" y="1543050"/>
            <a:ext cx="8240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 SemiBold" pitchFamily="34" charset="0"/>
                <a:ea typeface="Noto Serif Devanagari SemiBold" pitchFamily="34" charset="-122"/>
                <a:cs typeface="Noto Serif Devanagar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77444" y="1809750"/>
            <a:ext cx="1506996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16" name="Text 14"/>
          <p:cNvSpPr/>
          <p:nvPr/>
        </p:nvSpPr>
        <p:spPr>
          <a:xfrm>
            <a:off x="7577444" y="1943100"/>
            <a:ext cx="1506996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Build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77444" y="2352675"/>
            <a:ext cx="150699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Translate the logic into a working Logisim circuit.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17827" y="1314450"/>
            <a:ext cx="1964284" cy="2924175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19" name="Text 17"/>
          <p:cNvSpPr/>
          <p:nvPr/>
        </p:nvSpPr>
        <p:spPr>
          <a:xfrm>
            <a:off x="9846421" y="1543050"/>
            <a:ext cx="8240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 SemiBold" pitchFamily="34" charset="0"/>
                <a:ea typeface="Noto Serif Devanagari SemiBold" pitchFamily="34" charset="-122"/>
                <a:cs typeface="Noto Serif Devanagar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46421" y="1809750"/>
            <a:ext cx="1506996" cy="1905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1" name="Text 19"/>
          <p:cNvSpPr/>
          <p:nvPr/>
        </p:nvSpPr>
        <p:spPr>
          <a:xfrm>
            <a:off x="9846421" y="1943100"/>
            <a:ext cx="150709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Verify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846421" y="2352675"/>
            <a:ext cx="150709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Check truth tables and input-output tests against expected arithmetic.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912992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Theory and logic circuit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52835"/>
            <a:ext cx="59129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Small gate-level blocks combine into one arithmetic path. Mode controls whether the circuit adds or subtracts.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585" y="1957685"/>
            <a:ext cx="5912992" cy="1920875"/>
          </a:xfrm>
          <a:prstGeom prst="rect">
            <a:avLst/>
          </a:prstGeom>
          <a:noFill/>
          <a:ln w="19050">
            <a:solidFill>
              <a:srgbClr val="1B4A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220416"/>
            <a:ext cx="566534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GATE-LEVEL EQUATIONS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7229" y="2510135"/>
            <a:ext cx="5665348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Half adder: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45" y="2535535"/>
            <a:ext cx="1160334" cy="23604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657" y="2535535"/>
            <a:ext cx="1265801" cy="2360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29" y="2916535"/>
            <a:ext cx="5665348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Full adder: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130" y="2941935"/>
            <a:ext cx="1652943" cy="23604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151" y="2941935"/>
            <a:ext cx="2020341" cy="2360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29" y="3322935"/>
            <a:ext cx="5665348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Half subtractor: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2992" y="3348335"/>
            <a:ext cx="1752755" cy="236041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9825" y="3348335"/>
            <a:ext cx="1230877" cy="23604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9585" y="4030960"/>
            <a:ext cx="59129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Combined design.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XOR gates conditionally complement B, while Mode selects addition or two's-complement subtraction.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starts at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for addition and </a:t>
            </a:r>
            <a:r>
              <a:rPr lang="en-US" sz="14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for subtraction; full adders pass the carry chain from least significant to most significant bit.</a:t>
            </a:r>
            <a:endParaRPr lang="en-US" sz="15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4027" y="4332585"/>
            <a:ext cx="265304" cy="236041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5853" y="4640560"/>
            <a:ext cx="93065" cy="229691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7052" y="4640560"/>
            <a:ext cx="93065" cy="229691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046439" y="624681"/>
            <a:ext cx="414525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HALF ADDER TRUTH TABLE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439" y="968375"/>
          <a:ext cx="3535670" cy="2168470"/>
        </p:xfrm>
        <a:graphic>
          <a:graphicData uri="http://schemas.openxmlformats.org/drawingml/2006/table">
            <a:tbl>
              <a:tblPr/>
              <a:tblGrid>
                <a:gridCol w="707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B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Sum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Carry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1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9"/>
          <p:cNvSpPr/>
          <p:nvPr/>
        </p:nvSpPr>
        <p:spPr>
          <a:xfrm>
            <a:off x="8046439" y="3289300"/>
            <a:ext cx="3535671" cy="2279650"/>
          </a:xfrm>
          <a:prstGeom prst="rect">
            <a:avLst/>
          </a:prstGeom>
          <a:noFill/>
          <a:ln w="19050">
            <a:solidFill>
              <a:srgbClr val="1B4A9B"/>
            </a:solidFill>
            <a:prstDash val="solid"/>
          </a:ln>
        </p:spPr>
      </p:sp>
      <p:sp>
        <p:nvSpPr>
          <p:cNvPr id="22" name="Text 10"/>
          <p:cNvSpPr/>
          <p:nvPr/>
        </p:nvSpPr>
        <p:spPr>
          <a:xfrm>
            <a:off x="8294083" y="3552031"/>
            <a:ext cx="328802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MODE &amp; CARRY</a:t>
            </a:r>
            <a:endParaRPr lang="en-US" sz="1300" dirty="0"/>
          </a:p>
        </p:txBody>
      </p:sp>
      <p:sp>
        <p:nvSpPr>
          <p:cNvPr id="23" name="Text 11"/>
          <p:cNvSpPr/>
          <p:nvPr/>
        </p:nvSpPr>
        <p:spPr>
          <a:xfrm>
            <a:off x="8294083" y="3841750"/>
            <a:ext cx="3040383" cy="147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Mode = 0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selects addition; </a:t>
            </a: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Mode = 1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selects subtraction.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Outputs are Sum/Difference; the carry chain links the cascaded full-adder stages.</a:t>
            </a:r>
            <a:endParaRPr lang="en-US" sz="1500" dirty="0"/>
          </a:p>
        </p:txBody>
      </p:sp>
      <p:sp>
        <p:nvSpPr>
          <p:cNvPr id="24" name="Shape 1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5" name="Text 13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022" y="1071116"/>
            <a:ext cx="6095848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Circuit design in Logisim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81324"/>
            <a:ext cx="3936892" cy="178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Place input pins, XOR/AND/OR gates, full-adder stages, and output probes.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Connect the carry chain; feed </a:t>
            </a: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Mode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into the least-significant carry input.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Label inputs, outputs, carry, borrow, and operation mode.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Toggle inputs to observe live circuit behavior.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26419" y="244773"/>
            <a:ext cx="6201413" cy="6223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7924602" y="2058888"/>
            <a:ext cx="426709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24602" y="2320032"/>
            <a:ext cx="365750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24602" y="2803823"/>
            <a:ext cx="365750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4602" y="3792756"/>
            <a:ext cx="3657509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4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4B7633-831A-F2A6-21F1-33612D44B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9" b="6545"/>
          <a:stretch>
            <a:fillRect/>
          </a:stretch>
        </p:blipFill>
        <p:spPr>
          <a:xfrm>
            <a:off x="6015537" y="2647678"/>
            <a:ext cx="3019736" cy="35302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D26B40-BD98-2A90-EA1C-4A0A4DD6C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489" y="2632190"/>
            <a:ext cx="2899532" cy="3588894"/>
          </a:xfrm>
          <a:prstGeom prst="rect">
            <a:avLst/>
          </a:prstGeom>
        </p:spPr>
      </p:pic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E7B748BE-5997-4E41-D73C-93ED7CEBF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857" y="74240"/>
            <a:ext cx="2880572" cy="2798665"/>
          </a:xfrm>
          <a:prstGeom prst="rect">
            <a:avLst/>
          </a:prstGeom>
        </p:spPr>
      </p:pic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B9D6DF1-4BA8-7D2D-71FD-6CC21405A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489" y="390227"/>
            <a:ext cx="2728828" cy="2081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333867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Simulation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52835"/>
            <a:ext cx="533386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Representative cases define the expected arithmetic behavior. Replace the evidence placeholder with observed Logisim outputs when the team's file is available.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585" y="2179935"/>
            <a:ext cx="2514537" cy="2910681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398216"/>
            <a:ext cx="228594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EXPECTED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8179" y="2659360"/>
            <a:ext cx="2057349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Truth-table behavior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8179" y="3506291"/>
            <a:ext cx="2057349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Each input combination maps to a defined result and carry or borrow signal.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8914" y="2179935"/>
            <a:ext cx="2514537" cy="2910681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9" name="Text 7"/>
          <p:cNvSpPr/>
          <p:nvPr/>
        </p:nvSpPr>
        <p:spPr>
          <a:xfrm>
            <a:off x="3657509" y="2398216"/>
            <a:ext cx="228594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OBSERVED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509" y="2659360"/>
            <a:ext cx="205734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Logisim output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509" y="3143151"/>
            <a:ext cx="205734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[Insert real screenshot or measured output from the team's circuit.]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48244" y="624681"/>
            <a:ext cx="533386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REPRESENTATIVE SIMULATION CASES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48244" y="3189208"/>
            <a:ext cx="5333867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5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793EA0-16C2-B67C-68F3-15ACA556C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75" y="1120257"/>
            <a:ext cx="1847144" cy="21193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8555C5-703A-B998-C394-FAC0DB7EC93F}"/>
              </a:ext>
            </a:extLst>
          </p:cNvPr>
          <p:cNvSpPr txBox="1"/>
          <p:nvPr/>
        </p:nvSpPr>
        <p:spPr>
          <a:xfrm>
            <a:off x="6400640" y="3321625"/>
            <a:ext cx="251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Full-Adder truth table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AE1393-0C3D-3D75-8AED-43B56474F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250" y="1185450"/>
            <a:ext cx="1847144" cy="20541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289D77-1A8F-3EE8-028A-84BCC7AF2FD3}"/>
              </a:ext>
            </a:extLst>
          </p:cNvPr>
          <p:cNvSpPr txBox="1"/>
          <p:nvPr/>
        </p:nvSpPr>
        <p:spPr>
          <a:xfrm>
            <a:off x="8733250" y="3296184"/>
            <a:ext cx="2903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Full-Subtractor truth table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894AB6-F09C-D163-A2A8-F85B893F7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897" y="3833586"/>
            <a:ext cx="1657422" cy="12930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0B77D6F-BCB5-9CDD-E865-82AD76EE6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1628" y="3833586"/>
            <a:ext cx="1477930" cy="12907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D18018E-5BCC-551C-8438-9E318F70E6A6}"/>
              </a:ext>
            </a:extLst>
          </p:cNvPr>
          <p:cNvSpPr txBox="1"/>
          <p:nvPr/>
        </p:nvSpPr>
        <p:spPr>
          <a:xfrm>
            <a:off x="6400640" y="5217929"/>
            <a:ext cx="264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Half adder truth table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F16D6D-A553-558C-D27C-D2CF2745F7F1}"/>
              </a:ext>
            </a:extLst>
          </p:cNvPr>
          <p:cNvSpPr txBox="1"/>
          <p:nvPr/>
        </p:nvSpPr>
        <p:spPr>
          <a:xfrm>
            <a:off x="8915177" y="5217929"/>
            <a:ext cx="303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 subtractor truth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FROM GATES TO SYSTEMS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Conclusion and applications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290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The project connects Boolean logic, circuit design, and simulation into a working arithmetic unit.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957685"/>
            <a:ext cx="5333867" cy="297309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186285"/>
            <a:ext cx="482587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Where it is used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578" y="2670076"/>
            <a:ext cx="4825879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Arithmetic logic units and CPUs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Calculators and counters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Embedded digital systems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1957685"/>
            <a:ext cx="5333867" cy="2973090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9" name="Text 7"/>
          <p:cNvSpPr/>
          <p:nvPr/>
        </p:nvSpPr>
        <p:spPr>
          <a:xfrm>
            <a:off x="6502237" y="2186285"/>
            <a:ext cx="482587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Possible improvements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02237" y="2670076"/>
            <a:ext cx="4825879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Increase bit width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Add overflow detection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Reduce propagation delay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Compare faster adder architectures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585" y="5083175"/>
            <a:ext cx="2194465" cy="530225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2" name="Text 10"/>
          <p:cNvSpPr/>
          <p:nvPr/>
        </p:nvSpPr>
        <p:spPr>
          <a:xfrm>
            <a:off x="787380" y="5210175"/>
            <a:ext cx="20166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Final takeaway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04050" y="5083175"/>
            <a:ext cx="8778060" cy="53022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2981846" y="5210175"/>
            <a:ext cx="86002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Truth tables and Logisim simulation verify the design before hardware implementation.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432</Words>
  <Application>Microsoft Office PowerPoint</Application>
  <PresentationFormat>Widescreen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Noto Sans Bold</vt:lpstr>
      <vt:lpstr>Noto Serif Devanagari ExtraBold</vt:lpstr>
      <vt:lpstr>Noto Serif Devanagari Black</vt:lpstr>
      <vt:lpstr>Noto Serif Devanagari SemiBold</vt:lpstr>
      <vt:lpstr>Noto Serif Devanagari</vt:lpstr>
      <vt:lpstr>Consolas</vt:lpstr>
      <vt:lpstr>Noto Sans Medium</vt:lpstr>
      <vt:lpstr>Noto Serif Devanagari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Sahasra</dc:creator>
  <cp:lastModifiedBy>sahasradhanalakoti58@outlook.com</cp:lastModifiedBy>
  <cp:revision>2</cp:revision>
  <dcterms:created xsi:type="dcterms:W3CDTF">2026-10-15T03:17:04Z</dcterms:created>
  <dcterms:modified xsi:type="dcterms:W3CDTF">2026-10-15T03:49:58Z</dcterms:modified>
</cp:coreProperties>
</file>